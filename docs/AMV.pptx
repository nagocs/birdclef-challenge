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059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917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0813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491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790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939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690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446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157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966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5718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8231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6581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5886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4929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8512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288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DA887-842A-4CAE-8A19-19A134C9804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AEBC3-943D-4E64-9835-5B7FD99A42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43690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3CC49C-6B4D-339A-E5BA-57E7C8F6E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729" y="2710339"/>
            <a:ext cx="8632727" cy="1437321"/>
          </a:xfrm>
        </p:spPr>
        <p:txBody>
          <a:bodyPr>
            <a:noAutofit/>
          </a:bodyPr>
          <a:lstStyle/>
          <a:p>
            <a:r>
              <a:rPr lang="hu-HU" sz="3600" dirty="0"/>
              <a:t>Madárfajok azonosítása hangfelvételek alapján CNN alkalmazásával </a:t>
            </a:r>
            <a:br>
              <a:rPr lang="hu-HU" sz="3600" dirty="0"/>
            </a:br>
            <a:r>
              <a:rPr lang="hu-HU" sz="3600" dirty="0"/>
              <a:t>(</a:t>
            </a:r>
            <a:r>
              <a:rPr lang="hu-HU" sz="3600" dirty="0" err="1"/>
              <a:t>BirdCLEF</a:t>
            </a:r>
            <a:r>
              <a:rPr lang="hu-HU" sz="3600" dirty="0"/>
              <a:t> </a:t>
            </a:r>
            <a:r>
              <a:rPr lang="hu-HU" sz="3600" dirty="0" err="1"/>
              <a:t>challenge</a:t>
            </a:r>
            <a:r>
              <a:rPr lang="hu-HU" sz="3600" dirty="0"/>
              <a:t>)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0057DF8-4938-B1DE-1B81-6D5AF2CED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Agócs Norbert, Magyari Zsombor, Vas Benedek Zoltán</a:t>
            </a:r>
          </a:p>
          <a:p>
            <a:r>
              <a:rPr lang="hu-HU" dirty="0"/>
              <a:t>Deep </a:t>
            </a:r>
            <a:r>
              <a:rPr lang="hu-HU" dirty="0" err="1"/>
              <a:t>Learning</a:t>
            </a:r>
            <a:r>
              <a:rPr lang="hu-HU" dirty="0"/>
              <a:t> a gyakorlatban Python és LUA alapon (BMEVITMAV45)</a:t>
            </a:r>
          </a:p>
        </p:txBody>
      </p:sp>
    </p:spTree>
    <p:extLst>
      <p:ext uri="{BB962C8B-B14F-4D97-AF65-F5344CB8AC3E}">
        <p14:creationId xmlns:p14="http://schemas.microsoft.com/office/powerpoint/2010/main" val="256562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024509-78B3-E767-309E-B125E8E2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Bevezető, célkitűzések, motiváció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D12505-67C7-3541-AB48-51A09184A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Cél: madárfajok azonosítása hangfelvételek alapján </a:t>
            </a:r>
            <a:r>
              <a:rPr lang="hu-HU" dirty="0">
                <a:sym typeface="Wingdings" panose="05000000000000000000" pitchFamily="2" charset="2"/>
              </a:rPr>
              <a:t> é</a:t>
            </a:r>
            <a:r>
              <a:rPr lang="hu-HU" dirty="0"/>
              <a:t>lővilág monitorozása</a:t>
            </a:r>
          </a:p>
          <a:p>
            <a:r>
              <a:rPr lang="hu-HU" dirty="0"/>
              <a:t>Osztályozási feladat, CNN segítségével</a:t>
            </a:r>
          </a:p>
          <a:p>
            <a:r>
              <a:rPr lang="hu-HU" dirty="0"/>
              <a:t>Nehézségek: sok zaj, változó minőségű felvételek</a:t>
            </a:r>
          </a:p>
        </p:txBody>
      </p:sp>
    </p:spTree>
    <p:extLst>
      <p:ext uri="{BB962C8B-B14F-4D97-AF65-F5344CB8AC3E}">
        <p14:creationId xmlns:p14="http://schemas.microsoft.com/office/powerpoint/2010/main" val="247252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0AEBDE-F7A8-1BE5-7B4B-A80D9073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Korábbi megoldások, előnyeik, hátrányaik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C317BD-1400-505F-166D-514175357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Manuálisan előállított akusztikai jellemzők alapján</a:t>
            </a:r>
          </a:p>
          <a:p>
            <a:pPr lvl="1"/>
            <a:r>
              <a:rPr lang="hu-HU" dirty="0"/>
              <a:t>Csak kontrollált környezetben</a:t>
            </a:r>
          </a:p>
          <a:p>
            <a:pPr lvl="1"/>
            <a:r>
              <a:rPr lang="hu-HU" dirty="0"/>
              <a:t>Rossz általánosító „képesség”</a:t>
            </a:r>
          </a:p>
          <a:p>
            <a:r>
              <a:rPr lang="hu-HU" dirty="0"/>
              <a:t>Áttörés: CNN (bemenet: </a:t>
            </a:r>
            <a:r>
              <a:rPr lang="hu-HU" dirty="0" err="1"/>
              <a:t>spektrogram</a:t>
            </a:r>
            <a:r>
              <a:rPr lang="hu-HU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hu-HU" dirty="0" err="1">
                <a:sym typeface="Wingdings" panose="05000000000000000000" pitchFamily="2" charset="2"/>
              </a:rPr>
              <a:t>Robosztusabb</a:t>
            </a:r>
            <a:r>
              <a:rPr lang="hu-HU" dirty="0">
                <a:sym typeface="Wingdings" panose="05000000000000000000" pitchFamily="2" charset="2"/>
              </a:rPr>
              <a:t> tanult jellemzők</a:t>
            </a:r>
          </a:p>
          <a:p>
            <a:r>
              <a:rPr lang="hu-HU" dirty="0">
                <a:sym typeface="Wingdings" panose="05000000000000000000" pitchFamily="2" charset="2"/>
              </a:rPr>
              <a:t>Új kihívások: átfedő hangok, tanító adatok egyenetlen eloszlása</a:t>
            </a:r>
          </a:p>
          <a:p>
            <a:pPr lvl="1"/>
            <a:r>
              <a:rPr lang="hu-HU" dirty="0">
                <a:sym typeface="Wingdings" panose="05000000000000000000" pitchFamily="2" charset="2"/>
              </a:rPr>
              <a:t>Módszerek: </a:t>
            </a:r>
            <a:r>
              <a:rPr lang="hu-HU" dirty="0" err="1">
                <a:sym typeface="Wingdings" panose="05000000000000000000" pitchFamily="2" charset="2"/>
              </a:rPr>
              <a:t>ensemble</a:t>
            </a:r>
            <a:r>
              <a:rPr lang="hu-HU" dirty="0">
                <a:sym typeface="Wingdings" panose="05000000000000000000" pitchFamily="2" charset="2"/>
              </a:rPr>
              <a:t>, </a:t>
            </a:r>
            <a:r>
              <a:rPr lang="hu-HU" dirty="0" err="1">
                <a:sym typeface="Wingdings" panose="05000000000000000000" pitchFamily="2" charset="2"/>
              </a:rPr>
              <a:t>data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augmentation</a:t>
            </a:r>
            <a:r>
              <a:rPr lang="hu-HU" dirty="0">
                <a:sym typeface="Wingdings" panose="05000000000000000000" pitchFamily="2" charset="2"/>
              </a:rPr>
              <a:t>, kis mintás megközelítés, </a:t>
            </a:r>
            <a:r>
              <a:rPr lang="hu-HU" dirty="0" err="1">
                <a:sym typeface="Wingdings" panose="05000000000000000000" pitchFamily="2" charset="2"/>
              </a:rPr>
              <a:t>transfer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learning</a:t>
            </a:r>
            <a:r>
              <a:rPr lang="hu-HU" dirty="0">
                <a:sym typeface="Wingdings" panose="05000000000000000000" pitchFamily="2" charset="2"/>
              </a:rPr>
              <a:t>  az egész feldolgozási lánc fontos szerepet játszik</a:t>
            </a:r>
          </a:p>
          <a:p>
            <a:r>
              <a:rPr lang="hu-HU" dirty="0">
                <a:sym typeface="Wingdings" panose="05000000000000000000" pitchFamily="2" charset="2"/>
              </a:rPr>
              <a:t>Alapvető problémák megoldása után hatékonyságnövelés: </a:t>
            </a:r>
            <a:r>
              <a:rPr lang="hu-HU" dirty="0" err="1">
                <a:sym typeface="Wingdings" panose="05000000000000000000" pitchFamily="2" charset="2"/>
              </a:rPr>
              <a:t>EfficientNet</a:t>
            </a:r>
            <a:endParaRPr lang="hu-HU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5918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B68F3C-7010-94FF-4787-04BD9CB33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Rendszerterv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EA67173-07A7-8662-6719-566586D87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Hangfelvételek metaadatokkal (címkézett adatok)</a:t>
            </a:r>
          </a:p>
          <a:p>
            <a:r>
              <a:rPr lang="hu-HU" dirty="0" err="1"/>
              <a:t>Spektrogram</a:t>
            </a:r>
            <a:r>
              <a:rPr lang="hu-HU" dirty="0"/>
              <a:t> előállítása</a:t>
            </a:r>
          </a:p>
          <a:p>
            <a:r>
              <a:rPr lang="hu-HU" dirty="0"/>
              <a:t>CNN alapú architektúra (EfficientNetV2)</a:t>
            </a:r>
          </a:p>
          <a:p>
            <a:r>
              <a:rPr lang="hu-HU" dirty="0" err="1"/>
              <a:t>Spektrogram</a:t>
            </a:r>
            <a:r>
              <a:rPr lang="hu-HU" dirty="0"/>
              <a:t> alapján jellemző (</a:t>
            </a:r>
            <a:r>
              <a:rPr lang="hu-HU" dirty="0" err="1"/>
              <a:t>feature</a:t>
            </a:r>
            <a:r>
              <a:rPr lang="hu-HU" dirty="0"/>
              <a:t>) tanulás, osztályozás</a:t>
            </a:r>
          </a:p>
        </p:txBody>
      </p:sp>
    </p:spTree>
    <p:extLst>
      <p:ext uri="{BB962C8B-B14F-4D97-AF65-F5344CB8AC3E}">
        <p14:creationId xmlns:p14="http://schemas.microsoft.com/office/powerpoint/2010/main" val="180574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CCED34-AAFD-A10A-DE75-C82AACBEB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0C3C20-B52E-8E90-E0CF-D90BE5D5C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165527"/>
          </a:xfrm>
        </p:spPr>
        <p:txBody>
          <a:bodyPr>
            <a:normAutofit/>
          </a:bodyPr>
          <a:lstStyle/>
          <a:p>
            <a:r>
              <a:rPr lang="hu-HU" dirty="0" err="1"/>
              <a:t>BirdCLEF</a:t>
            </a:r>
            <a:r>
              <a:rPr lang="hu-HU" dirty="0"/>
              <a:t> 2024 adathalmaz</a:t>
            </a:r>
          </a:p>
          <a:p>
            <a:pPr lvl="1"/>
            <a:r>
              <a:rPr lang="hu-HU" dirty="0"/>
              <a:t>24459 hangfelvétel (.</a:t>
            </a:r>
            <a:r>
              <a:rPr lang="hu-HU" dirty="0" err="1"/>
              <a:t>ogg</a:t>
            </a:r>
            <a:r>
              <a:rPr lang="hu-HU" dirty="0"/>
              <a:t> formátum)</a:t>
            </a:r>
          </a:p>
          <a:p>
            <a:pPr lvl="2"/>
            <a:r>
              <a:rPr lang="hu-HU" dirty="0" err="1"/>
              <a:t>Mono</a:t>
            </a:r>
            <a:r>
              <a:rPr lang="hu-HU" dirty="0"/>
              <a:t>, 32 kHz</a:t>
            </a:r>
          </a:p>
          <a:p>
            <a:pPr lvl="2"/>
            <a:r>
              <a:rPr lang="hu-HU" dirty="0"/>
              <a:t>Változó zajszint, minőség</a:t>
            </a:r>
          </a:p>
          <a:p>
            <a:pPr lvl="1"/>
            <a:r>
              <a:rPr lang="hu-HU" dirty="0"/>
              <a:t>182 madárfaj</a:t>
            </a:r>
          </a:p>
          <a:p>
            <a:pPr lvl="1"/>
            <a:r>
              <a:rPr lang="hu-HU" dirty="0"/>
              <a:t>Train_metadata.csv – metaadatok </a:t>
            </a:r>
          </a:p>
          <a:p>
            <a:r>
              <a:rPr lang="hu-HU" dirty="0"/>
              <a:t>Feldolgozás:</a:t>
            </a:r>
          </a:p>
          <a:p>
            <a:pPr lvl="1"/>
            <a:r>
              <a:rPr lang="hu-HU" dirty="0"/>
              <a:t>15 másodperces darabok</a:t>
            </a:r>
          </a:p>
          <a:p>
            <a:pPr lvl="1"/>
            <a:r>
              <a:rPr lang="hu-HU" dirty="0" err="1"/>
              <a:t>Mel</a:t>
            </a:r>
            <a:r>
              <a:rPr lang="hu-HU" dirty="0"/>
              <a:t>-skálázott </a:t>
            </a:r>
            <a:r>
              <a:rPr lang="hu-HU" dirty="0" err="1"/>
              <a:t>spektrogram</a:t>
            </a:r>
            <a:r>
              <a:rPr lang="hu-HU" dirty="0"/>
              <a:t> </a:t>
            </a:r>
            <a:r>
              <a:rPr lang="hu-HU"/>
              <a:t>(emberi hallás)</a:t>
            </a:r>
            <a:endParaRPr lang="hu-HU" dirty="0"/>
          </a:p>
          <a:p>
            <a:r>
              <a:rPr lang="hu-HU" dirty="0"/>
              <a:t>Végül képfelismerési probléma</a:t>
            </a:r>
          </a:p>
          <a:p>
            <a:pPr lvl="1"/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D099B13-670A-2A50-56F6-58A8039FB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06" y="2336873"/>
            <a:ext cx="3962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DCC414-D81B-30F9-9A27-72EEA0CD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Architektúra, tanítás, nehézségek és megoldásuk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01B602-9559-FF31-B0B4-945DACCC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283"/>
            <a:ext cx="10515600" cy="4516591"/>
          </a:xfrm>
        </p:spPr>
        <p:txBody>
          <a:bodyPr>
            <a:normAutofit/>
          </a:bodyPr>
          <a:lstStyle/>
          <a:p>
            <a:r>
              <a:rPr lang="hu-HU" dirty="0"/>
              <a:t>EfficientNetV2-B0</a:t>
            </a:r>
          </a:p>
          <a:p>
            <a:pPr lvl="1"/>
            <a:r>
              <a:rPr lang="hu-HU" dirty="0"/>
              <a:t>Felépítés: </a:t>
            </a:r>
            <a:r>
              <a:rPr lang="hu-HU" dirty="0" err="1"/>
              <a:t>MBConv</a:t>
            </a:r>
            <a:r>
              <a:rPr lang="hu-HU" dirty="0"/>
              <a:t> és </a:t>
            </a:r>
            <a:r>
              <a:rPr lang="hu-HU" dirty="0" err="1"/>
              <a:t>Fused-MBConv</a:t>
            </a:r>
            <a:r>
              <a:rPr lang="hu-HU" dirty="0"/>
              <a:t> blokkok</a:t>
            </a:r>
          </a:p>
          <a:p>
            <a:pPr lvl="1"/>
            <a:r>
              <a:rPr lang="hu-HU" dirty="0"/>
              <a:t>11.598.934 tanítható paraméter</a:t>
            </a:r>
          </a:p>
          <a:p>
            <a:pPr lvl="1"/>
            <a:r>
              <a:rPr lang="hu-HU" dirty="0"/>
              <a:t>Általános CNN-nél gyorsabb tanulás, jobb paraméterhatékonyság</a:t>
            </a:r>
          </a:p>
          <a:p>
            <a:pPr lvl="1"/>
            <a:r>
              <a:rPr lang="hu-HU" dirty="0"/>
              <a:t>Bemenet: 128 × 384 × 1 </a:t>
            </a:r>
            <a:r>
              <a:rPr lang="hu-HU" dirty="0" err="1"/>
              <a:t>tenzor</a:t>
            </a:r>
            <a:r>
              <a:rPr lang="hu-HU" dirty="0"/>
              <a:t> (</a:t>
            </a:r>
            <a:r>
              <a:rPr lang="hu-HU" dirty="0" err="1"/>
              <a:t>mel-spektrogram</a:t>
            </a:r>
            <a:r>
              <a:rPr lang="hu-HU" dirty="0"/>
              <a:t>)</a:t>
            </a:r>
          </a:p>
          <a:p>
            <a:r>
              <a:rPr lang="hu-HU" dirty="0"/>
              <a:t>Tanítás</a:t>
            </a:r>
          </a:p>
          <a:p>
            <a:pPr lvl="1"/>
            <a:r>
              <a:rPr lang="hu-HU" dirty="0"/>
              <a:t>Adathalmaz felosztása: 80% </a:t>
            </a:r>
            <a:r>
              <a:rPr lang="hu-HU" dirty="0" err="1"/>
              <a:t>train</a:t>
            </a:r>
            <a:r>
              <a:rPr lang="hu-HU" dirty="0"/>
              <a:t>, 10% teszt és 10% validációs adat</a:t>
            </a:r>
          </a:p>
          <a:p>
            <a:pPr lvl="1"/>
            <a:r>
              <a:rPr lang="hu-HU" dirty="0" err="1"/>
              <a:t>Loss</a:t>
            </a:r>
            <a:r>
              <a:rPr lang="hu-HU" dirty="0"/>
              <a:t> </a:t>
            </a:r>
            <a:r>
              <a:rPr lang="hu-HU" dirty="0" err="1"/>
              <a:t>fgv</a:t>
            </a:r>
            <a:r>
              <a:rPr lang="hu-HU" dirty="0"/>
              <a:t>.: </a:t>
            </a:r>
            <a:r>
              <a:rPr lang="hu-HU" dirty="0" err="1"/>
              <a:t>sparse</a:t>
            </a:r>
            <a:r>
              <a:rPr lang="hu-HU" dirty="0"/>
              <a:t> </a:t>
            </a:r>
            <a:r>
              <a:rPr lang="hu-HU" dirty="0" err="1"/>
              <a:t>cross-entropy</a:t>
            </a:r>
            <a:endParaRPr lang="hu-HU" dirty="0"/>
          </a:p>
          <a:p>
            <a:pPr lvl="1"/>
            <a:r>
              <a:rPr lang="hu-HU" dirty="0"/>
              <a:t>Adam optimalizáció</a:t>
            </a:r>
          </a:p>
          <a:p>
            <a:pPr lvl="1"/>
            <a:r>
              <a:rPr lang="hu-HU" dirty="0"/>
              <a:t>Batch méret: 32</a:t>
            </a:r>
          </a:p>
          <a:p>
            <a:pPr lvl="1"/>
            <a:r>
              <a:rPr lang="hu-HU" dirty="0"/>
              <a:t>10 </a:t>
            </a:r>
            <a:r>
              <a:rPr lang="hu-HU" dirty="0" err="1"/>
              <a:t>epoch</a:t>
            </a:r>
            <a:r>
              <a:rPr lang="hu-HU" dirty="0"/>
              <a:t>  + </a:t>
            </a:r>
            <a:r>
              <a:rPr lang="hu-HU" dirty="0" err="1"/>
              <a:t>EarlyStopping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5572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CAE8FE-99B1-73F5-D083-45161933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Eredmények és ezek kiértékelése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0D052A-5BFD-BE69-EEA7-B048C354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18886"/>
            <a:ext cx="9613861" cy="3599316"/>
          </a:xfrm>
        </p:spPr>
        <p:txBody>
          <a:bodyPr/>
          <a:lstStyle/>
          <a:p>
            <a:r>
              <a:rPr lang="hu-HU" dirty="0"/>
              <a:t>Monitorozott metrikák: veszteség (</a:t>
            </a:r>
            <a:r>
              <a:rPr lang="hu-HU" dirty="0" err="1"/>
              <a:t>loss</a:t>
            </a:r>
            <a:r>
              <a:rPr lang="hu-HU" dirty="0"/>
              <a:t>), pontosság (</a:t>
            </a:r>
            <a:r>
              <a:rPr lang="hu-HU" dirty="0" err="1"/>
              <a:t>accuracy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Teszt veszteség: 1.7061 </a:t>
            </a:r>
          </a:p>
          <a:p>
            <a:pPr lvl="1"/>
            <a:r>
              <a:rPr lang="hu-HU" dirty="0"/>
              <a:t>Teszt pontosság: 0.5976 (59,76%)</a:t>
            </a:r>
          </a:p>
          <a:p>
            <a:pPr lvl="1"/>
            <a:r>
              <a:rPr lang="hu-HU" dirty="0"/>
              <a:t>Enyhe túltanulás (overfitting) megfigyelhető</a:t>
            </a:r>
          </a:p>
          <a:p>
            <a:endParaRPr lang="hu-HU" dirty="0"/>
          </a:p>
        </p:txBody>
      </p:sp>
      <p:pic>
        <p:nvPicPr>
          <p:cNvPr id="5" name="Kép 4" descr="A képen szöveg, Diagram, diagram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D5CC103-D0E5-D9DF-83F3-9674A144F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85" y="3692516"/>
            <a:ext cx="4550866" cy="2947843"/>
          </a:xfrm>
          <a:prstGeom prst="rect">
            <a:avLst/>
          </a:prstGeom>
        </p:spPr>
      </p:pic>
      <p:pic>
        <p:nvPicPr>
          <p:cNvPr id="7" name="Kép 6" descr="A képen Diagram, sor, diagram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3D421CB-E599-5EE1-A3E3-2EBB871B0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751" y="3692516"/>
            <a:ext cx="4550867" cy="29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2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A6D781-CA0E-07C1-82FA-B5A9136F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Összefoglaló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4A32B7-E3F4-CEC4-10D2-022C93638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Sikeres osztályozás: nagy számú madárfaj esetén is közel 60%-os teszt pontosság</a:t>
            </a:r>
          </a:p>
          <a:p>
            <a:r>
              <a:rPr lang="hu-HU" dirty="0"/>
              <a:t>Jól látható a CNN alapú architektúra hatékonysága</a:t>
            </a:r>
          </a:p>
          <a:p>
            <a:r>
              <a:rPr lang="hu-HU" dirty="0"/>
              <a:t>Fejlesztési lehetőségek:</a:t>
            </a:r>
          </a:p>
          <a:p>
            <a:pPr lvl="1"/>
            <a:r>
              <a:rPr lang="hu-HU" dirty="0"/>
              <a:t>zajszűrő algoritmusok </a:t>
            </a:r>
            <a:r>
              <a:rPr lang="hu-HU" dirty="0">
                <a:sym typeface="Wingdings" panose="05000000000000000000" pitchFamily="2" charset="2"/>
              </a:rPr>
              <a:t> „tisztább” tanító adatok</a:t>
            </a:r>
          </a:p>
          <a:p>
            <a:pPr lvl="1"/>
            <a:r>
              <a:rPr lang="hu-HU" dirty="0">
                <a:sym typeface="Wingdings" panose="05000000000000000000" pitchFamily="2" charset="2"/>
              </a:rPr>
              <a:t>Egyéb architektúrák kipróbálása (pl. </a:t>
            </a:r>
            <a:r>
              <a:rPr lang="hu-HU" dirty="0" err="1">
                <a:sym typeface="Wingdings" panose="05000000000000000000" pitchFamily="2" charset="2"/>
              </a:rPr>
              <a:t>Audio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Spectrogram</a:t>
            </a:r>
            <a:r>
              <a:rPr lang="hu-HU" dirty="0">
                <a:sym typeface="Wingdings" panose="05000000000000000000" pitchFamily="2" charset="2"/>
              </a:rPr>
              <a:t> </a:t>
            </a:r>
            <a:r>
              <a:rPr lang="hu-HU" dirty="0" err="1">
                <a:sym typeface="Wingdings" panose="05000000000000000000" pitchFamily="2" charset="2"/>
              </a:rPr>
              <a:t>Transformer</a:t>
            </a:r>
            <a:r>
              <a:rPr lang="hu-HU" dirty="0">
                <a:sym typeface="Wingdings" panose="05000000000000000000" pitchFamily="2" charset="2"/>
              </a:rPr>
              <a:t>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016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D83F92-7C8E-5865-50E4-6F2C3769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6E9666-6523-EDA7-EDCE-67203618B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620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115</TotalTime>
  <Words>336</Words>
  <Application>Microsoft Office PowerPoint</Application>
  <PresentationFormat>Szélesvásznú</PresentationFormat>
  <Paragraphs>56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</vt:lpstr>
      <vt:lpstr>Berlin</vt:lpstr>
      <vt:lpstr>Madárfajok azonosítása hangfelvételek alapján CNN alkalmazásával  (BirdCLEF challenge)</vt:lpstr>
      <vt:lpstr>Bevezető, célkitűzések, motiváció </vt:lpstr>
      <vt:lpstr>Korábbi megoldások, előnyeik, hátrányaik</vt:lpstr>
      <vt:lpstr>Rendszerterv</vt:lpstr>
      <vt:lpstr>Adatbázis</vt:lpstr>
      <vt:lpstr>Architektúra, tanítás, nehézségek és megoldásuk</vt:lpstr>
      <vt:lpstr>Eredmények és ezek kiértékelése</vt:lpstr>
      <vt:lpstr>Összefoglaló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 Benedek Zoltán</dc:creator>
  <cp:lastModifiedBy>Agócs Norbert Gábor</cp:lastModifiedBy>
  <cp:revision>8</cp:revision>
  <dcterms:created xsi:type="dcterms:W3CDTF">2025-12-17T15:37:30Z</dcterms:created>
  <dcterms:modified xsi:type="dcterms:W3CDTF">2025-12-18T14:07:22Z</dcterms:modified>
</cp:coreProperties>
</file>